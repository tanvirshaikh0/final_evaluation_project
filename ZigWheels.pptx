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134806516" r:id="rId5"/>
    <p:sldId id="2147471377" r:id="rId6"/>
    <p:sldId id="2147471378" r:id="rId7"/>
    <p:sldId id="2147471384" r:id="rId8"/>
    <p:sldId id="2147471385" r:id="rId9"/>
    <p:sldId id="2147471381" r:id="rId10"/>
    <p:sldId id="2147471382" r:id="rId11"/>
    <p:sldId id="2147471383" r:id="rId12"/>
    <p:sldId id="2147471386" r:id="rId13"/>
    <p:sldId id="21474713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91B9E5"/>
    <a:srgbClr val="2F78C4"/>
    <a:srgbClr val="89F9FC"/>
    <a:srgbClr val="2DB820"/>
    <a:srgbClr val="EAC71D"/>
    <a:srgbClr val="B81E2D"/>
    <a:srgbClr val="424242"/>
    <a:srgbClr val="000048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344E81-9906-8F0C-6DAF-BF8616696A84}" v="2" dt="2025-08-26T04:14:41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8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8227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25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616" y="2052083"/>
            <a:ext cx="8169317" cy="157926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4242CFFB-365C-1E4A-856E-A39BC59F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617" y="6325193"/>
            <a:ext cx="1832863" cy="303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6452" y="1094366"/>
            <a:ext cx="2628901" cy="4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36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F505-C9D5-403B-9D3B-321A20493A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indent="0">
              <a:buClr>
                <a:schemeClr val="accent3"/>
              </a:buClr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TOC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22F2-32CA-4802-9320-A58D8A6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500E8-DB39-442F-AD4A-610EB529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1757621-CF57-B04A-880F-50800569D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tabLst/>
              <a:defRPr sz="1800">
                <a:solidFill>
                  <a:schemeClr val="tx1"/>
                </a:solidFill>
              </a:defRPr>
            </a:lvl1pPr>
            <a:lvl2pPr marL="690563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 marL="976313" indent="-230188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4D26F9-1077-4443-A17C-B4C76A2FF6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15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90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3286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96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04956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0F15C86-2BE4-DF46-883D-1A49945192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 -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04956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36802"/>
            <a:ext cx="9381744" cy="1107996"/>
          </a:xfrm>
        </p:spPr>
        <p:txBody>
          <a:bodyPr anchor="ctr" anchorCtr="0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2FFB9D1-0873-894C-8D31-DBAD9B4DD0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13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43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28106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2DC75C7-77A7-FD4D-BCC3-F341910731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05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304BD6-DACB-8C40-8FF9-7D9AD2276F4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DE5300-D6EE-B945-A3F3-F094244958A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tabLst/>
              <a:defRPr sz="105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super head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683D89A3-7746-6A4C-A4B4-55083AFF4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62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 userDrawn="1">
          <p15:clr>
            <a:srgbClr val="FBAE40"/>
          </p15:clr>
        </p15:guide>
        <p15:guide id="4" pos="71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BFD73C-FDB7-EA40-835B-AC533361A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04956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94C77B6-AAD6-F647-8C6E-86BBA9A1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56CCA1-9C74-CA46-A5B7-7587CB64531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2AE54E8-458B-5C4F-B54B-1C227C4EA63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26FEF70-CE92-7B4E-BF8A-A311E29D33D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05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super head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3B7DA40-15F3-AF49-ABF8-C4C1FBC131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40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0BDC89-ADC1-D243-9AED-87C420EB13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C3714E0-F154-3C48-95D7-D6542B904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16531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55FE01-A547-E549-9FD2-968ECC91D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E086D4D-AE0E-994F-85B0-5741E544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F8DBFC-CC24-C840-A172-2ADB2181C5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BBEF564-80F0-B040-A31B-AA3B0FBC4213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232F8A43-7E6E-F046-A12E-FBBAC25FF2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CA39281-9128-1E40-98C0-AFBF3E85E86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C7A3CB3C-2056-274C-89F4-0A448175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94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9E70566-7047-D64B-9961-EFB6CDB88A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ADBAC61-71BD-0849-BABA-F53A3F1FD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28106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A653587-D29A-1341-89BA-BB7AEE6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1F0EA97-1AA1-1341-80BB-592FE5E616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A0C71924-9F4E-3D4E-B81F-F7A8CE935DA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8D97226-1A88-034C-BCCD-7CA6ACB501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20785" y="1196975"/>
            <a:ext cx="5303520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8753D18-DAA3-2541-B7C8-EAFA3C04B51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320785" y="1735922"/>
            <a:ext cx="5303520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70B703B-567D-6247-BF28-0C6DF81B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60F2FF91-370F-4D44-9FCE-DB1EE37D9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19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39680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58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9C8C99-BBA1-1042-9B2A-5F6540E4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F026E43-B1CB-DF49-99F2-72C832AF0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3D4CDA9-E747-F24B-BF43-E847D7B9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16531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35B7A51-6FA2-3D42-9456-A9A91A3A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8451B1B-01C3-1449-813A-CD9FC6599AC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7C68B81-4AC9-1A44-9B77-E3191081ADE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A2E6C06-39E7-9843-AC0D-3B2D34AA58B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E3693DC4-D7E6-E146-B22E-E0477DDAD5D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0443FBB-19EB-814F-8FF6-FBBA502C922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D3FBD86-7238-0F4B-B980-24CD51457C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8179E2-C4FC-B141-B84B-E290619840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10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E62E9631-BF87-CC43-9BC1-A43B69D9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510728B-0127-8546-9FE8-8BCCB5AC1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66DF19B-DB23-C247-BFE2-C435F485744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A800D9-21A5-BC45-A7AD-D9E66E33A43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2E4FA9D-722A-1041-8940-4BAC99F095C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EAC40C-08DC-9E4B-BF9D-0537403A170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8042D4F-D138-E049-922E-AA8BC903020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D370DCE-4758-DD4D-971B-63A5A524A1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D3F4B7D8-7EA5-AC4B-9A01-F35CCDF0D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816531" cy="19074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D3586DF7-1DE2-054D-B3DF-425EEC22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6ACFE70C-14DB-2649-88BF-B8FC4CBAD9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52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30FD1D1-61B6-484D-BDEA-1C4B45AE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1FCEF03-8CFB-7645-A55F-F392AC6F6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A1F8BCF2-BF1B-854A-89D2-2C92E8FB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28106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8D26ED0-8F55-1442-8D3E-4920BCC7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E32534-4769-6740-A0A1-24F60121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C9B563-BC82-D345-855D-303DB81C452D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C3F4A9E-6552-FD43-A475-F309413F520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5699CB9-E06F-8F4B-9BDB-99688549D72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39ED9F7-3C7E-6C4E-B855-3C91A0A05AD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AD49848-4987-4A46-9B3B-747BF471E19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+mj-lt"/>
              <a:buNone/>
              <a:tabLst/>
              <a:defRPr>
                <a:solidFill>
                  <a:schemeClr val="tx1"/>
                </a:solidFill>
              </a:defRPr>
            </a:lvl1pPr>
            <a:lvl2pPr marL="573088" indent="-23018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58838" indent="-228600">
              <a:lnSpc>
                <a:spcPct val="100000"/>
              </a:lnSpc>
              <a:buFont typeface="Cambria" panose="02040503050406030204" pitchFamily="18" charset="0"/>
              <a:buChar char="⎻"/>
              <a:tabLst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3360CE3-24A2-4642-BE25-83CDF69168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14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2DAB97BD-2DAF-92C7-57CE-FD802BBA50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78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-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2416" y="2023872"/>
            <a:ext cx="8575589" cy="1946764"/>
          </a:xfrm>
        </p:spPr>
        <p:txBody>
          <a:bodyPr anchor="t" anchorCtr="0"/>
          <a:lstStyle>
            <a:lvl1pPr algn="l" rtl="0" eaLnBrk="1" latinLnBrk="0" hangingPunct="1">
              <a:defRPr lang="en-US" sz="40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403757B-3C0A-0849-B674-7D15D576B3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52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839680" cy="3657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7014296-2734-FA5F-94AF-F9D441AE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872FF-F4A9-EC4C-AFA7-65B0DF881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BDCE571-2427-E9D3-D912-0E8469F0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483158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F7AC9C5-12E9-9E44-9EC8-143CC68E1C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-1"/>
            <a:ext cx="6096000" cy="6858001"/>
          </a:xfrm>
        </p:spPr>
        <p:txBody>
          <a:bodyPr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B34307-3F79-684E-8108-52BE58260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D050447-227B-4CC5-3DE0-91C29FFDFDD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4652128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4652347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5A8EF-708C-9159-E197-0752DFF6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16531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93116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 | Confidential &amp; Proprietary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4" r:id="rId2"/>
    <p:sldLayoutId id="2147483729" r:id="rId3"/>
    <p:sldLayoutId id="2147483773" r:id="rId4"/>
    <p:sldLayoutId id="2147483665" r:id="rId5"/>
    <p:sldLayoutId id="2147483798" r:id="rId6"/>
    <p:sldLayoutId id="2147483799" r:id="rId7"/>
    <p:sldLayoutId id="2147483808" r:id="rId8"/>
    <p:sldLayoutId id="2147483809" r:id="rId9"/>
    <p:sldLayoutId id="2147483775" r:id="rId10"/>
    <p:sldLayoutId id="2147483781" r:id="rId11"/>
    <p:sldLayoutId id="2147483776" r:id="rId12"/>
    <p:sldLayoutId id="2147483740" r:id="rId13"/>
    <p:sldLayoutId id="2147483734" r:id="rId14"/>
    <p:sldLayoutId id="2147483783" r:id="rId15"/>
    <p:sldLayoutId id="2147483733" r:id="rId16"/>
    <p:sldLayoutId id="2147483772" r:id="rId17"/>
    <p:sldLayoutId id="2147483823" r:id="rId18"/>
    <p:sldLayoutId id="2147483726" r:id="rId19"/>
    <p:sldLayoutId id="2147483796" r:id="rId20"/>
    <p:sldLayoutId id="2147483797" r:id="rId21"/>
    <p:sldLayoutId id="2147483795" r:id="rId22"/>
    <p:sldLayoutId id="2147483824" r:id="rId2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 userDrawn="1">
          <p15:clr>
            <a:srgbClr val="F26B43"/>
          </p15:clr>
        </p15:guide>
        <p15:guide id="5" orient="horz" pos="41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igwheels.com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25B54-6779-CD4A-A56B-DDD9A922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A66A47-B58E-5A18-8D0B-CC66BE12C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680" y="2105095"/>
            <a:ext cx="6406606" cy="1323906"/>
          </a:xfrm>
          <a:effectLst>
            <a:reflection blurRad="6350" stA="50000" endA="295" endPos="92000" dist="101600" dir="5400000" sy="-100000" algn="bl" rotWithShape="0"/>
          </a:effectLst>
        </p:spPr>
        <p:txBody>
          <a:bodyPr>
            <a:scene3d>
              <a:camera prst="perspectiveRight">
                <a:rot lat="0" lon="20400000" rev="0"/>
              </a:camera>
              <a:lightRig rig="threePt" dir="t"/>
            </a:scene3d>
            <a:sp3d extrusionH="57150">
              <a:bevelT w="38100" h="38100" prst="relaxedInset"/>
              <a:bevelB w="57150" h="38100" prst="artDeco"/>
            </a:sp3d>
          </a:bodyPr>
          <a:lstStyle/>
          <a:p>
            <a:r>
              <a:rPr lang="en-IN" dirty="0">
                <a:effectLst>
                  <a:glow rad="63500">
                    <a:schemeClr val="accent1">
                      <a:satMod val="175000"/>
                      <a:alpha val="41000"/>
                    </a:schemeClr>
                  </a:glow>
                  <a:outerShdw blurRad="50800" dist="38100" dir="13500000" sx="98000" sy="98000" algn="br" rotWithShape="0">
                    <a:srgbClr val="0070C0">
                      <a:alpha val="40000"/>
                    </a:srgbClr>
                  </a:outerShdw>
                  <a:reflection blurRad="6350" stA="51000" endPos="85000" dist="60007" dir="5400000" sy="-100000" algn="bl" rotWithShape="0"/>
                </a:effectLst>
                <a:latin typeface="Algerian" panose="04020705040A02060702" pitchFamily="82" charset="0"/>
              </a:rPr>
              <a:t> </a:t>
            </a:r>
            <a:r>
              <a:rPr lang="en-IN" dirty="0" err="1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63500">
                    <a:schemeClr val="accent1">
                      <a:satMod val="175000"/>
                      <a:alpha val="41000"/>
                    </a:schemeClr>
                  </a:glow>
                  <a:reflection blurRad="6350" stA="51000" endPos="85000" dist="60007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ZigWheels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63500">
                    <a:schemeClr val="accent1">
                      <a:satMod val="175000"/>
                      <a:alpha val="41000"/>
                    </a:schemeClr>
                  </a:glow>
                  <a:reflection blurRad="6350" stA="51000" endPos="85000" dist="60007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New Bikes</a:t>
            </a:r>
            <a:endParaRPr lang="en-IN" dirty="0">
              <a:solidFill>
                <a:schemeClr val="bg2"/>
              </a:solidFill>
              <a:effectLst>
                <a:glow rad="228600">
                  <a:srgbClr val="0070C0">
                    <a:alpha val="40000"/>
                  </a:srgbClr>
                </a:glow>
                <a:outerShdw blurRad="50800" dist="38100" dir="13500000" algn="br" rotWithShape="0">
                  <a:srgbClr val="00B0F0">
                    <a:alpha val="40000"/>
                  </a:srgbClr>
                </a:outerShdw>
                <a:reflection blurRad="6350" stA="52000" endPos="85000" dist="60007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A039F-2724-5893-3AC7-584A981CABB4}"/>
              </a:ext>
            </a:extLst>
          </p:cNvPr>
          <p:cNvSpPr txBox="1"/>
          <p:nvPr/>
        </p:nvSpPr>
        <p:spPr>
          <a:xfrm>
            <a:off x="591695" y="4332922"/>
            <a:ext cx="4546851" cy="21132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b="1" i="1" u="sng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lvl="1">
              <a:lnSpc>
                <a:spcPct val="150000"/>
              </a:lnSpc>
            </a:pPr>
            <a:r>
              <a:rPr lang="en-IN" sz="1400" b="1" dirty="0">
                <a:solidFill>
                  <a:schemeClr val="bg1"/>
                </a:solidFill>
              </a:rPr>
              <a:t>Praveen 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IN" sz="1400" b="1" dirty="0" err="1">
                <a:solidFill>
                  <a:schemeClr val="bg1"/>
                </a:solidFill>
              </a:rPr>
              <a:t>Kontham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  <a:endParaRPr lang="en-US" sz="1400" b="1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IN" sz="1400" b="1" dirty="0">
                <a:solidFill>
                  <a:schemeClr val="bg1"/>
                </a:solidFill>
              </a:rPr>
              <a:t>Shivaprasad Bethi</a:t>
            </a:r>
          </a:p>
          <a:p>
            <a:pPr lvl="1">
              <a:lnSpc>
                <a:spcPct val="150000"/>
              </a:lnSpc>
            </a:pPr>
            <a:r>
              <a:rPr lang="en-IN" sz="1400" b="1" dirty="0">
                <a:solidFill>
                  <a:schemeClr val="bg1"/>
                </a:solidFill>
              </a:rPr>
              <a:t>Archie Agarwal</a:t>
            </a:r>
          </a:p>
          <a:p>
            <a:pPr lvl="1">
              <a:lnSpc>
                <a:spcPct val="150000"/>
              </a:lnSpc>
            </a:pPr>
            <a:r>
              <a:rPr lang="en-IN" sz="1400" b="1" dirty="0">
                <a:solidFill>
                  <a:schemeClr val="bg1"/>
                </a:solidFill>
              </a:rPr>
              <a:t>Tanvir Shaikh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1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39792-12F8-47BB-7AFA-18304B943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336" y="366356"/>
            <a:ext cx="9503664" cy="701040"/>
          </a:xfrm>
        </p:spPr>
        <p:txBody>
          <a:bodyPr/>
          <a:lstStyle/>
          <a:p>
            <a:r>
              <a:rPr lang="en-US" dirty="0"/>
              <a:t>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AEF42-B0C4-AE4C-9B19-0E6C3036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FC625-BD53-7BA7-56DF-F2DFB00E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0F0D3-95BB-0C09-41F6-A14F9D066F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1798320"/>
            <a:ext cx="10621264" cy="498855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cs typeface="Times New Roman" panose="02020603050405020304" pitchFamily="18" charset="0"/>
              </a:rPr>
              <a:t>Navigate to Upcoming Honda Bikes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</a:rPr>
              <a:t>1) Open zigwheels.com </a:t>
            </a: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cs typeface="Times New Roman" panose="02020603050405020304" pitchFamily="18" charset="0"/>
              </a:rPr>
              <a:t>2) Click on search field </a:t>
            </a: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cs typeface="Times New Roman" panose="02020603050405020304" pitchFamily="18" charset="0"/>
              </a:rPr>
              <a:t>3) Input &gt; "Upcoming Honda Bikes"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cs typeface="Times New Roman" panose="02020603050405020304" pitchFamily="18" charset="0"/>
              </a:rPr>
              <a:t>4) Click Enter</a:t>
            </a: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sz="1800" dirty="0">
                <a:cs typeface="Times New Roman" panose="02020603050405020304" pitchFamily="18" charset="0"/>
              </a:rPr>
              <a:t>5) Validate the page shows Honda bikes </a:t>
            </a:r>
          </a:p>
          <a:p>
            <a:pPr>
              <a:lnSpc>
                <a:spcPct val="150000"/>
              </a:lnSpc>
            </a:pPr>
            <a:endParaRPr lang="en-US" sz="1800" b="1" dirty="0"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cs typeface="Times New Roman" panose="02020603050405020304" pitchFamily="18" charset="0"/>
              </a:rPr>
              <a:t>Validate the bikes are of Honda Company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sz="1800" dirty="0">
                <a:cs typeface="Times New Roman" panose="02020603050405020304" pitchFamily="18" charset="0"/>
              </a:rPr>
              <a:t>Check the displayed List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sz="1800" dirty="0">
                <a:cs typeface="Times New Roman" panose="02020603050405020304" pitchFamily="18" charset="0"/>
              </a:rPr>
              <a:t> Verify the Bikes Shown Are of Honda Company</a:t>
            </a:r>
            <a:endParaRPr lang="en-US" sz="18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ECFAAC-1C20-41AC-AEFF-BB2C65F17A7F}"/>
              </a:ext>
            </a:extLst>
          </p:cNvPr>
          <p:cNvSpPr txBox="1">
            <a:spLocks/>
          </p:cNvSpPr>
          <p:nvPr/>
        </p:nvSpPr>
        <p:spPr>
          <a:xfrm>
            <a:off x="1286256" y="874990"/>
            <a:ext cx="9259824" cy="9233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ZigWheels.com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52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A810-8230-D7B2-D33D-F5DECB70C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3376" y="593854"/>
            <a:ext cx="7745984" cy="616287"/>
          </a:xfrm>
        </p:spPr>
        <p:txBody>
          <a:bodyPr/>
          <a:lstStyle/>
          <a:p>
            <a:r>
              <a:rPr lang="en-US" dirty="0"/>
              <a:t>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3EB79-5A0B-8086-5F5C-9DDA0407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99722-CEC7-3F60-CB25-E0FA66C3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459E2-9E05-E276-A601-DADA47CCC7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4296" y="1710006"/>
            <a:ext cx="10000566" cy="414415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cs typeface="Times New Roman" panose="02020603050405020304" pitchFamily="18" charset="0"/>
              </a:rPr>
              <a:t>Validate bike card fields (name, price, expected launch) </a:t>
            </a:r>
          </a:p>
          <a:p>
            <a:pPr marL="342900" indent="-342900">
              <a:buAutoNum type="arabicParenR"/>
            </a:pPr>
            <a:r>
              <a:rPr lang="en-US" sz="1800" dirty="0">
                <a:cs typeface="Times New Roman" panose="02020603050405020304" pitchFamily="18" charset="0"/>
              </a:rPr>
              <a:t>Check the displayed List  </a:t>
            </a:r>
          </a:p>
          <a:p>
            <a:pPr marL="342900" indent="-342900">
              <a:buAutoNum type="arabicParenR"/>
            </a:pPr>
            <a:r>
              <a:rPr lang="en-US" sz="1800" dirty="0">
                <a:cs typeface="Times New Roman" panose="02020603050405020304" pitchFamily="18" charset="0"/>
              </a:rPr>
              <a:t> Verify the Bikes Shown Are of Honda Company </a:t>
            </a:r>
          </a:p>
          <a:p>
            <a:endParaRPr lang="en-US" sz="1800" dirty="0">
              <a:cs typeface="Times New Roman" panose="02020603050405020304" pitchFamily="18" charset="0"/>
            </a:endParaRPr>
          </a:p>
          <a:p>
            <a:r>
              <a:rPr lang="en-US" sz="1800" b="1" dirty="0">
                <a:cs typeface="Times New Roman" panose="02020603050405020304" pitchFamily="18" charset="0"/>
              </a:rPr>
              <a:t>Assert each Honda bike price &lt; ₹4 lakh (numeric parsing)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1) Read price text 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2) Normalize to INR 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3) Assert value &lt; 400000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69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7D77F-6EB0-69A3-FA96-B03EAE33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9821-322D-1C95-0A3D-44F099128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3376" y="176193"/>
            <a:ext cx="7745984" cy="616287"/>
          </a:xfrm>
        </p:spPr>
        <p:txBody>
          <a:bodyPr/>
          <a:lstStyle/>
          <a:p>
            <a:r>
              <a:rPr lang="en-US"/>
              <a:t>          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12490F-CB2A-EAC0-D50F-DA0F824DA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2FBAE-C273-BE9A-6F10-389303F9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195BD-ED75-ADFB-D1C8-16B53A4851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4880" y="955040"/>
            <a:ext cx="8940800" cy="572676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cs typeface="Times New Roman" panose="02020603050405020304" pitchFamily="18" charset="0"/>
              </a:rPr>
              <a:t>Navigate to Used Cars in Chennai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1) Navigate to Homepage "zigwheels.com" </a:t>
            </a: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cs typeface="Times New Roman" panose="02020603050405020304" pitchFamily="18" charset="0"/>
              </a:rPr>
              <a:t>2) Click on search field 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3) Input -&gt; "Used Cars in Chennai"</a:t>
            </a: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sz="1800" dirty="0">
                <a:cs typeface="Times New Roman" panose="02020603050405020304" pitchFamily="18" charset="0"/>
              </a:rPr>
              <a:t>4) Click Enter</a:t>
            </a: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sz="1800" dirty="0">
                <a:cs typeface="Times New Roman" panose="02020603050405020304" pitchFamily="18" charset="0"/>
              </a:rPr>
              <a:t>5) Validate the page shows Cars from Chennai.</a:t>
            </a:r>
          </a:p>
          <a:p>
            <a:endParaRPr lang="en-US" sz="1800" b="1" dirty="0"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Verify the Available Used Cars in Chennai 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1) Verify the cars are available</a:t>
            </a:r>
          </a:p>
          <a:p>
            <a:endParaRPr lang="en-US" sz="1800" dirty="0"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cs typeface="Times New Roman" panose="02020603050405020304" pitchFamily="18" charset="0"/>
              </a:rPr>
              <a:t>Extract “Popular models in Chennai”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1) Locate Popular Models section </a:t>
            </a: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cs typeface="Times New Roman" panose="02020603050405020304" pitchFamily="18" charset="0"/>
              </a:rPr>
              <a:t>2) Click on all popular models from filter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3) Verify each popular models are displayed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4) Extract names</a:t>
            </a:r>
            <a:endParaRPr lang="en-US" sz="1800" dirty="0"/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0623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7E3A4-E3D0-102F-6954-0E42461E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7B0F-5761-3DA2-5DF7-511AAB4B0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3376" y="176193"/>
            <a:ext cx="7745984" cy="616287"/>
          </a:xfrm>
        </p:spPr>
        <p:txBody>
          <a:bodyPr/>
          <a:lstStyle/>
          <a:p>
            <a:r>
              <a:rPr lang="en-US"/>
              <a:t>          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2D5A9-78EB-1B76-F95A-A26694419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98871-BBB2-343E-DFDA-F7BB48E0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28AB4-7853-1E16-57CB-FD537687F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416" y="880576"/>
            <a:ext cx="8625840" cy="509684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cs typeface="Times New Roman" panose="02020603050405020304" pitchFamily="18" charset="0"/>
              </a:rPr>
              <a:t>Google OAuth window handling from login modal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1) Click Login 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2) Click Google 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3) Switch window</a:t>
            </a:r>
          </a:p>
          <a:p>
            <a:r>
              <a:rPr lang="en-US" sz="1800" dirty="0">
                <a:cs typeface="Times New Roman" panose="02020603050405020304" pitchFamily="18" charset="0"/>
              </a:rPr>
              <a:t> </a:t>
            </a:r>
            <a:endParaRPr lang="en-US" sz="1800" b="1" dirty="0"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cs typeface="Times New Roman" panose="02020603050405020304" pitchFamily="18" charset="0"/>
              </a:rPr>
              <a:t>Invalid Google email shows appropriate error</a:t>
            </a:r>
          </a:p>
          <a:p>
            <a:r>
              <a:rPr lang="en-US" sz="1800" dirty="0"/>
              <a:t>1) Enter invalid email </a:t>
            </a:r>
            <a:br>
              <a:rPr lang="en-US" sz="1800" dirty="0"/>
            </a:br>
            <a:r>
              <a:rPr lang="en-US" sz="1800" dirty="0"/>
              <a:t>2) Click Next </a:t>
            </a:r>
            <a:endParaRPr lang="en-US" sz="1800" dirty="0"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390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7A50-885B-FFE7-E7EA-F40757EA7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333063"/>
            <a:ext cx="9198864" cy="615553"/>
          </a:xfrm>
        </p:spPr>
        <p:txBody>
          <a:bodyPr/>
          <a:lstStyle/>
          <a:p>
            <a:r>
              <a:rPr lang="en-US" sz="4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 DELIVERABLES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47E03-C3B5-F9F1-C15F-52B3DFC3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075FE-E279-1D87-6FAC-DB81978C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492439-80EC-901A-308F-3324D9E00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2722880"/>
            <a:ext cx="8082280" cy="23977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Prepared requirement document covering </a:t>
            </a:r>
            <a:r>
              <a:rPr lang="en-US" sz="2000" b="1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10 functional requirements</a:t>
            </a: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Verified automation feasibility for </a:t>
            </a:r>
            <a:r>
              <a:rPr lang="en-US" sz="2000" dirty="0" err="1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ZigWheels</a:t>
            </a: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website across all workflows.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Tested the provided hackathon project idea linear.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744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3C93-751D-C721-021A-1A6944E12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4896" y="1228280"/>
            <a:ext cx="6801104" cy="492443"/>
          </a:xfrm>
        </p:spPr>
        <p:txBody>
          <a:bodyPr/>
          <a:lstStyle/>
          <a:p>
            <a:r>
              <a:rPr lang="en-US" sz="32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WEEK 2 DELIVERABLES</a:t>
            </a:r>
            <a:endParaRPr lang="en-US" sz="3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3AD65-F02E-ABC7-F049-63B8A4BC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F925D-30A2-5A29-27B8-E1D39196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41114-AAC2-839E-B8AE-8DBA05B959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37360" y="2814320"/>
            <a:ext cx="8514080" cy="247476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Creation of Page Object Model framework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Creation of reusable functions required for the project.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Implementation of POM using Page Factory.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66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9A45-ABF6-2DBA-DF0E-249A0F9EF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941904"/>
            <a:ext cx="8839200" cy="615553"/>
          </a:xfrm>
        </p:spPr>
        <p:txBody>
          <a:bodyPr/>
          <a:lstStyle/>
          <a:p>
            <a:r>
              <a:rPr lang="en-US" sz="4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2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3 DELIVERABLES</a:t>
            </a:r>
            <a:endParaRPr lang="en-US" sz="3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B6C93-EF80-3D9F-DF84-A158C7F6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B8FCF-AF02-C9C1-2017-B8BAB63C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3D5E2-9959-B611-1812-CD5C2EB04A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6560" y="2184400"/>
            <a:ext cx="7904480" cy="348488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Implemented BBD Cucumber all </a:t>
            </a:r>
            <a:r>
              <a:rPr lang="en-US" sz="2000" b="1" dirty="0">
                <a:solidFill>
                  <a:schemeClr val="tx2"/>
                </a:solidFill>
                <a:ea typeface="Calibri"/>
                <a:cs typeface="Calibri"/>
              </a:rPr>
              <a:t>10 requirements</a:t>
            </a: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Used </a:t>
            </a:r>
            <a:r>
              <a:rPr lang="en-US" sz="2000" b="1" dirty="0">
                <a:solidFill>
                  <a:schemeClr val="tx2"/>
                </a:solidFill>
                <a:ea typeface="Calibri"/>
                <a:cs typeface="Calibri"/>
              </a:rPr>
              <a:t>Excel and Properties</a:t>
            </a: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 for data-driven testing and captured extracted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Generated </a:t>
            </a:r>
            <a:r>
              <a:rPr lang="en-US" sz="2000" b="1" dirty="0">
                <a:solidFill>
                  <a:schemeClr val="tx2"/>
                </a:solidFill>
                <a:ea typeface="Calibri"/>
                <a:cs typeface="Calibri"/>
              </a:rPr>
              <a:t>Allure Report and Cucumber Report</a:t>
            </a: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 and screenshots for failed test cases.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Implemented retesting for failed test case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Added a logger to record application activity and save it to a log file for easier debugging and monitoring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2"/>
                </a:solidFill>
                <a:ea typeface="Calibri"/>
                <a:cs typeface="Calibri"/>
              </a:rPr>
              <a:t>Added grouping for test cases.</a:t>
            </a:r>
            <a:endParaRPr lang="en-US" sz="20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04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E1C46-AB79-413E-BFE8-640DDA46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2FADA-7685-1203-CB4A-B314F249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0CC3E-8598-60E5-1988-1513C6AB66F2}"/>
              </a:ext>
            </a:extLst>
          </p:cNvPr>
          <p:cNvSpPr txBox="1"/>
          <p:nvPr/>
        </p:nvSpPr>
        <p:spPr>
          <a:xfrm>
            <a:off x="2661920" y="2651759"/>
            <a:ext cx="5130800" cy="20703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We were able to understand the entire Software Testing Life Cycle (STLC) phases through implementation of the project.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Gained more knowledge on automation testing through real time project implementation.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We were able to learn new things by working as a team.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038104B4-8FE6-49A5-25A4-DEA1E48108FE}"/>
              </a:ext>
            </a:extLst>
          </p:cNvPr>
          <p:cNvSpPr/>
          <p:nvPr/>
        </p:nvSpPr>
        <p:spPr>
          <a:xfrm>
            <a:off x="1290320" y="1872277"/>
            <a:ext cx="7782560" cy="3535680"/>
          </a:xfrm>
          <a:prstGeom prst="wedgeEllipseCallout">
            <a:avLst/>
          </a:prstGeom>
          <a:noFill/>
          <a:ln w="57150">
            <a:solidFill>
              <a:srgbClr val="0070C0"/>
            </a:solidFill>
          </a:ln>
          <a:effectLst>
            <a:outerShdw blurRad="50800" dist="38100" dir="13500000" algn="b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0CF5FE-BED6-C2EF-DD0C-7D3033D9AA18}"/>
              </a:ext>
            </a:extLst>
          </p:cNvPr>
          <p:cNvSpPr txBox="1"/>
          <p:nvPr/>
        </p:nvSpPr>
        <p:spPr>
          <a:xfrm>
            <a:off x="2611120" y="650240"/>
            <a:ext cx="7579360" cy="7721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IN" sz="32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LEARNING AND OVERALL       			EXPERIENCE</a:t>
            </a:r>
          </a:p>
          <a:p>
            <a:endParaRPr lang="en-IN" sz="32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886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524D6C-2B99-ED50-55FE-85C8752A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Cognizant | Confidential &amp; Proprietary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0CCABE-B41D-94F2-0D75-7EEF9820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FB3D19-D621-2F5D-E471-05393ACD30D7}"/>
              </a:ext>
            </a:extLst>
          </p:cNvPr>
          <p:cNvSpPr/>
          <p:nvPr/>
        </p:nvSpPr>
        <p:spPr>
          <a:xfrm>
            <a:off x="1788160" y="1757680"/>
            <a:ext cx="6807200" cy="2560320"/>
          </a:xfrm>
          <a:prstGeom prst="roundRect">
            <a:avLst/>
          </a:prstGeom>
          <a:ln/>
          <a:effectLst>
            <a:glow rad="88900">
              <a:schemeClr val="accent1">
                <a:satMod val="175000"/>
                <a:alpha val="40000"/>
              </a:schemeClr>
            </a:glow>
            <a:outerShdw blurRad="25400" dist="38100" dir="13500000" algn="br" rotWithShape="0">
              <a:schemeClr val="accent3">
                <a:lumMod val="75000"/>
                <a:alpha val="40000"/>
              </a:schemeClr>
            </a:outerShdw>
            <a:reflection blurRad="6350" stA="50000" endA="300" endPos="55500" dist="101600" dir="5400000" sy="-100000" algn="bl" rotWithShape="0"/>
            <a:softEdge rad="1016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45848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gnizant 2023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2F8E"/>
      </a:accent2>
      <a:accent3>
        <a:srgbClr val="2F78C4"/>
      </a:accent3>
      <a:accent4>
        <a:srgbClr val="91B9E5"/>
      </a:accent4>
      <a:accent5>
        <a:srgbClr val="05C7CC"/>
      </a:accent5>
      <a:accent6>
        <a:srgbClr val="000048"/>
      </a:accent6>
      <a:hlink>
        <a:srgbClr val="2F78C3"/>
      </a:hlink>
      <a:folHlink>
        <a:srgbClr val="91B9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9D4EBE8-3F7E-4619-B76F-0B0BF7F9FB71}" vid="{48B051EE-1B79-499E-A6A7-28854F4177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6ce515-a707-4959-aaa2-b339df12b9ad">
      <Terms xmlns="http://schemas.microsoft.com/office/infopath/2007/PartnerControls"/>
    </lcf76f155ced4ddcb4097134ff3c332f>
    <TaxCatchAll xmlns="c1fa1b37-97c2-4738-b9c9-f06e40c084a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5039A044B60D40B3724930C1FBFD03" ma:contentTypeVersion="15" ma:contentTypeDescription="Create a new document." ma:contentTypeScope="" ma:versionID="a7b9db4aa7b78f270230ef8cfb6de930">
  <xsd:schema xmlns:xsd="http://www.w3.org/2001/XMLSchema" xmlns:xs="http://www.w3.org/2001/XMLSchema" xmlns:p="http://schemas.microsoft.com/office/2006/metadata/properties" xmlns:ns2="a36ce515-a707-4959-aaa2-b339df12b9ad" xmlns:ns3="c1fa1b37-97c2-4738-b9c9-f06e40c084a6" targetNamespace="http://schemas.microsoft.com/office/2006/metadata/properties" ma:root="true" ma:fieldsID="b80bd20d014bf2b2fb16f4b3fe6d9649" ns2:_="" ns3:_="">
    <xsd:import namespace="a36ce515-a707-4959-aaa2-b339df12b9ad"/>
    <xsd:import namespace="c1fa1b37-97c2-4738-b9c9-f06e40c08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6ce515-a707-4959-aaa2-b339df12b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a1b37-97c2-4738-b9c9-f06e40c084a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000b07d-837c-47c6-83e1-c25618c757b1}" ma:internalName="TaxCatchAll" ma:showField="CatchAllData" ma:web="c1fa1b37-97c2-4738-b9c9-f06e40c08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5434AD-C3DD-4033-A63E-F6FE9BDA23DA}">
  <ds:schemaRefs>
    <ds:schemaRef ds:uri="a36ce515-a707-4959-aaa2-b339df12b9ad"/>
    <ds:schemaRef ds:uri="c1fa1b37-97c2-4738-b9c9-f06e40c084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020AD93-EC2D-4327-9EF1-902D27AF5C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A1991E-609C-43CD-AE13-3B1600ECBE33}">
  <ds:schemaRefs>
    <ds:schemaRef ds:uri="a36ce515-a707-4959-aaa2-b339df12b9ad"/>
    <ds:schemaRef ds:uri="c1fa1b37-97c2-4738-b9c9-f06e40c084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Effective Communication</Template>
  <TotalTime>0</TotalTime>
  <Words>544</Words>
  <Application>Microsoft Office PowerPoint</Application>
  <PresentationFormat>Widescreen</PresentationFormat>
  <Paragraphs>89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Calibri</vt:lpstr>
      <vt:lpstr>Cambria</vt:lpstr>
      <vt:lpstr>Times New Roman</vt:lpstr>
      <vt:lpstr>Wingdings</vt:lpstr>
      <vt:lpstr>Office Theme</vt:lpstr>
      <vt:lpstr> ZigWheels – Identify New Bikes</vt:lpstr>
      <vt:lpstr>              PROJECT IDEA</vt:lpstr>
      <vt:lpstr>           PROJECT IDEA</vt:lpstr>
      <vt:lpstr>           PROJECT IDEA</vt:lpstr>
      <vt:lpstr>           PROJECT IDEA</vt:lpstr>
      <vt:lpstr>       WEEK 1 DELIVERABLES</vt:lpstr>
      <vt:lpstr>       WEEK 2 DELIVERABLES</vt:lpstr>
      <vt:lpstr>      WEEK 3 DELIVERABLES</vt:lpstr>
      <vt:lpstr>PowerPoint Presentation</vt:lpstr>
      <vt:lpstr>PowerPoint Presentation</vt:lpstr>
    </vt:vector>
  </TitlesOfParts>
  <Manager/>
  <Company>Cognizant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B, Murugan (Contractor)</dc:creator>
  <cp:keywords/>
  <dc:description/>
  <cp:lastModifiedBy>Shaikh, Tanvir (Cognizant)</cp:lastModifiedBy>
  <cp:revision>2</cp:revision>
  <dcterms:created xsi:type="dcterms:W3CDTF">2025-01-03T04:06:37Z</dcterms:created>
  <dcterms:modified xsi:type="dcterms:W3CDTF">2025-09-01T06:29:27Z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0x010100145039A044B60D40B3724930C1FBFD03</vt:lpwstr>
  </property>
  <property fmtid="{D5CDD505-2E9C-101B-9397-08002B2CF9AE}" pid="3" name="MediaServiceImageTags">
    <vt:lpwstr/>
  </property>
</Properties>
</file>